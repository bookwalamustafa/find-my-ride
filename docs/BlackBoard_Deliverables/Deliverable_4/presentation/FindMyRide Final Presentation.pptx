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Newsreader"/>
      <p:regular r:id="rId24"/>
      <p:bold r:id="rId25"/>
      <p:italic r:id="rId26"/>
      <p:boldItalic r:id="rId27"/>
    </p:embeddedFont>
    <p:embeddedFont>
      <p:font typeface="DM Sans Light"/>
      <p:regular r:id="rId28"/>
      <p:bold r:id="rId29"/>
      <p:italic r:id="rId30"/>
      <p:boldItalic r:id="rId31"/>
    </p:embeddedFont>
    <p:embeddedFont>
      <p:font typeface="DM Sans SemiBold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  <p:embeddedFont>
      <p:font typeface="Newsreader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EC201C-83F7-4F2B-9DE7-B3F0ED273437}">
  <a:tblStyle styleId="{69EC201C-83F7-4F2B-9DE7-B3F0ED2734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wsreaderSemiBold-regular.fntdata"/><Relationship Id="rId42" Type="http://schemas.openxmlformats.org/officeDocument/2006/relationships/font" Target="fonts/NewsreaderSemiBold-italic.fntdata"/><Relationship Id="rId41" Type="http://schemas.openxmlformats.org/officeDocument/2006/relationships/font" Target="fonts/NewsreaderSemiBold-bold.fntdata"/><Relationship Id="rId43" Type="http://schemas.openxmlformats.org/officeDocument/2006/relationships/font" Target="fonts/Newsread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Light-boldItalic.fntdata"/><Relationship Id="rId30" Type="http://schemas.openxmlformats.org/officeDocument/2006/relationships/font" Target="fonts/DMSansLight-italic.fntdata"/><Relationship Id="rId33" Type="http://schemas.openxmlformats.org/officeDocument/2006/relationships/font" Target="fonts/DMSansSemiBold-bold.fntdata"/><Relationship Id="rId32" Type="http://schemas.openxmlformats.org/officeDocument/2006/relationships/font" Target="fonts/DMSansSemiBold-regular.fntdata"/><Relationship Id="rId35" Type="http://schemas.openxmlformats.org/officeDocument/2006/relationships/font" Target="fonts/DMSansSemiBold-boldItalic.fntdata"/><Relationship Id="rId34" Type="http://schemas.openxmlformats.org/officeDocument/2006/relationships/font" Target="fonts/DMSansSemiBold-italic.fntdata"/><Relationship Id="rId37" Type="http://schemas.openxmlformats.org/officeDocument/2006/relationships/font" Target="fonts/DMSans-bold.fntdata"/><Relationship Id="rId36" Type="http://schemas.openxmlformats.org/officeDocument/2006/relationships/font" Target="fonts/DMSans-regular.fntdata"/><Relationship Id="rId39" Type="http://schemas.openxmlformats.org/officeDocument/2006/relationships/font" Target="fonts/DMSans-boldItalic.fntdata"/><Relationship Id="rId38" Type="http://schemas.openxmlformats.org/officeDocument/2006/relationships/font" Target="fonts/DMSans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ewsreader-regular.fntdata"/><Relationship Id="rId23" Type="http://schemas.openxmlformats.org/officeDocument/2006/relationships/slide" Target="slides/slide17.xml"/><Relationship Id="rId26" Type="http://schemas.openxmlformats.org/officeDocument/2006/relationships/font" Target="fonts/Newsreader-italic.fntdata"/><Relationship Id="rId25" Type="http://schemas.openxmlformats.org/officeDocument/2006/relationships/font" Target="fonts/Newsreader-bold.fntdata"/><Relationship Id="rId28" Type="http://schemas.openxmlformats.org/officeDocument/2006/relationships/font" Target="fonts/DMSansLight-regular.fntdata"/><Relationship Id="rId27" Type="http://schemas.openxmlformats.org/officeDocument/2006/relationships/font" Target="fonts/Newsreader-boldItalic.fntdata"/><Relationship Id="rId29" Type="http://schemas.openxmlformats.org/officeDocument/2006/relationships/font" Target="fonts/DMSans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ba04c55a8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ba04c55a8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Mustafa: 1-5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Kennan: 6-10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Samii: 11-14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ba04c55a8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ba04c55a8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ba04c55a8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ba04c55a8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ba04c55a8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ba04c55a8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ba04c55a8_0_1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aba04c55a8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c8c39f0a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c8c39f0a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ba04c55a8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ba04c55a8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ba04c55a8_0_1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aba04c55a8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c8c39f0a2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c8c39f0a2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ba04c55a8_0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aba04c55a8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c7b350a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ac7b350a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ba04c55a8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aba04c55a8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c8c39f0a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c8c39f0a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ba04c55a8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ba04c55a8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ba04c55a8_0_1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aba04c55a8_0_1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c8c39f0a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ac8c39f0a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aba04c55a8_0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aba04c55a8_0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exel.edu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618950" y="-2287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15800" y="1866725"/>
            <a:ext cx="4572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07294D"/>
                </a:solidFill>
              </a:rPr>
              <a:t>FindMyRide</a:t>
            </a:r>
            <a:endParaRPr sz="4600">
              <a:solidFill>
                <a:srgbClr val="07294D"/>
              </a:solidFill>
            </a:endParaRPr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CS461 - </a:t>
            </a:r>
            <a:r>
              <a:rPr lang="en" sz="1200">
                <a:solidFill>
                  <a:schemeClr val="lt1"/>
                </a:solidFill>
              </a:rPr>
              <a:t>Database</a:t>
            </a:r>
            <a:r>
              <a:rPr lang="en" sz="1200">
                <a:solidFill>
                  <a:schemeClr val="lt1"/>
                </a:solidFill>
              </a:rPr>
              <a:t> Systems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766500" y="4591250"/>
            <a:ext cx="3220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Team: Samii Shabuse, Kennan Lu, Mustafa Bookwala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55"/>
          <p:cNvSpPr txBox="1"/>
          <p:nvPr>
            <p:ph idx="3" type="body"/>
          </p:nvPr>
        </p:nvSpPr>
        <p:spPr>
          <a:xfrm>
            <a:off x="860400" y="2571750"/>
            <a:ext cx="31266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A Cross-Platform Ride-Sharing App For Dragons</a:t>
            </a:r>
            <a:endParaRPr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type="title"/>
          </p:nvPr>
        </p:nvSpPr>
        <p:spPr>
          <a:xfrm>
            <a:off x="361975" y="962100"/>
            <a:ext cx="2450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Our team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478" name="Google Shape;478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07294D"/>
                </a:solidFill>
              </a:rPr>
              <a:t>‹#›</a:t>
            </a:fld>
            <a:endParaRPr>
              <a:solidFill>
                <a:srgbClr val="07294D"/>
              </a:solidFill>
            </a:endParaRPr>
          </a:p>
        </p:txBody>
      </p:sp>
      <p:sp>
        <p:nvSpPr>
          <p:cNvPr id="479" name="Google Shape;479;p56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FindMyRide</a:t>
            </a:r>
            <a:endParaRPr sz="1200"/>
          </a:p>
        </p:txBody>
      </p:sp>
      <p:sp>
        <p:nvSpPr>
          <p:cNvPr id="480" name="Google Shape;480;p56"/>
          <p:cNvSpPr/>
          <p:nvPr/>
        </p:nvSpPr>
        <p:spPr>
          <a:xfrm>
            <a:off x="6196325" y="1801500"/>
            <a:ext cx="2955000" cy="3342000"/>
          </a:xfrm>
          <a:prstGeom prst="roundRect">
            <a:avLst>
              <a:gd fmla="val 0" name="adj"/>
            </a:avLst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294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56"/>
          <p:cNvSpPr/>
          <p:nvPr/>
        </p:nvSpPr>
        <p:spPr>
          <a:xfrm>
            <a:off x="3098162" y="1801500"/>
            <a:ext cx="2955000" cy="3342000"/>
          </a:xfrm>
          <a:prstGeom prst="roundRect">
            <a:avLst>
              <a:gd fmla="val 0" name="adj"/>
            </a:avLst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56"/>
          <p:cNvSpPr/>
          <p:nvPr/>
        </p:nvSpPr>
        <p:spPr>
          <a:xfrm>
            <a:off x="0" y="1801500"/>
            <a:ext cx="2955000" cy="3342000"/>
          </a:xfrm>
          <a:prstGeom prst="roundRect">
            <a:avLst>
              <a:gd fmla="val 0" name="adj"/>
            </a:avLst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3" name="Google Shape;483;p56"/>
          <p:cNvSpPr txBox="1"/>
          <p:nvPr>
            <p:ph idx="20" type="subTitle"/>
          </p:nvPr>
        </p:nvSpPr>
        <p:spPr>
          <a:xfrm>
            <a:off x="651300" y="3028509"/>
            <a:ext cx="1587900" cy="2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Samii Shabuse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84" name="Google Shape;484;p56"/>
          <p:cNvSpPr txBox="1"/>
          <p:nvPr>
            <p:ph idx="4294967295" type="body"/>
          </p:nvPr>
        </p:nvSpPr>
        <p:spPr>
          <a:xfrm>
            <a:off x="269250" y="3747900"/>
            <a:ext cx="26859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Role:</a:t>
            </a:r>
            <a:r>
              <a:rPr lang="en">
                <a:solidFill>
                  <a:schemeClr val="dk1"/>
                </a:solidFill>
              </a:rPr>
              <a:t> Chief Software Engineer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Major</a:t>
            </a:r>
            <a:r>
              <a:rPr lang="en">
                <a:solidFill>
                  <a:schemeClr val="dk1"/>
                </a:solidFill>
              </a:rPr>
              <a:t>: Computer Science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Minor: </a:t>
            </a:r>
            <a:r>
              <a:rPr lang="en">
                <a:solidFill>
                  <a:schemeClr val="dk1"/>
                </a:solidFill>
              </a:rPr>
              <a:t>Mathematics, Data Science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Year:</a:t>
            </a:r>
            <a:r>
              <a:rPr lang="en">
                <a:solidFill>
                  <a:schemeClr val="dk1"/>
                </a:solidFill>
              </a:rPr>
              <a:t> Senior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5" name="Google Shape;485;p56"/>
          <p:cNvSpPr txBox="1"/>
          <p:nvPr>
            <p:ph idx="2" type="subTitle"/>
          </p:nvPr>
        </p:nvSpPr>
        <p:spPr>
          <a:xfrm>
            <a:off x="6912150" y="3028509"/>
            <a:ext cx="1587900" cy="2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Mustafa Bookwala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p56"/>
          <p:cNvSpPr txBox="1"/>
          <p:nvPr>
            <p:ph idx="17" type="subTitle"/>
          </p:nvPr>
        </p:nvSpPr>
        <p:spPr>
          <a:xfrm>
            <a:off x="3878325" y="3028509"/>
            <a:ext cx="1587900" cy="2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Kennan Lu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87" name="Google Shape;487;p56" title="1698986245038.jpe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6375" y="1923334"/>
            <a:ext cx="991800" cy="991800"/>
          </a:xfrm>
          <a:prstGeom prst="rect">
            <a:avLst/>
          </a:prstGeom>
        </p:spPr>
      </p:pic>
      <p:pic>
        <p:nvPicPr>
          <p:cNvPr id="488" name="Google Shape;488;p56" title="1696800676186.jpeg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7913" y="1923334"/>
            <a:ext cx="991800" cy="991800"/>
          </a:xfrm>
          <a:prstGeom prst="rect">
            <a:avLst/>
          </a:prstGeom>
        </p:spPr>
      </p:pic>
      <p:pic>
        <p:nvPicPr>
          <p:cNvPr id="489" name="Google Shape;489;p56" title="1685315366058 (1).jpe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350" y="1923334"/>
            <a:ext cx="991800" cy="991800"/>
          </a:xfrm>
          <a:prstGeom prst="rect">
            <a:avLst/>
          </a:prstGeom>
        </p:spPr>
      </p:pic>
      <p:sp>
        <p:nvSpPr>
          <p:cNvPr id="490" name="Google Shape;490;p56"/>
          <p:cNvSpPr txBox="1"/>
          <p:nvPr>
            <p:ph idx="4294967295" type="body"/>
          </p:nvPr>
        </p:nvSpPr>
        <p:spPr>
          <a:xfrm>
            <a:off x="3393599" y="3747900"/>
            <a:ext cx="24507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Role:</a:t>
            </a:r>
            <a:r>
              <a:rPr lang="en">
                <a:solidFill>
                  <a:schemeClr val="dk1"/>
                </a:solidFill>
              </a:rPr>
              <a:t> Lead Database Engineer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Major:</a:t>
            </a:r>
            <a:r>
              <a:rPr lang="en">
                <a:solidFill>
                  <a:schemeClr val="dk1"/>
                </a:solidFill>
              </a:rPr>
              <a:t> Computer Science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Minor: </a:t>
            </a:r>
            <a:r>
              <a:rPr lang="en">
                <a:solidFill>
                  <a:schemeClr val="dk1"/>
                </a:solidFill>
              </a:rPr>
              <a:t>Art History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Year:</a:t>
            </a:r>
            <a:r>
              <a:rPr lang="en">
                <a:solidFill>
                  <a:schemeClr val="dk1"/>
                </a:solidFill>
              </a:rPr>
              <a:t> Junior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1" name="Google Shape;491;p56"/>
          <p:cNvSpPr txBox="1"/>
          <p:nvPr>
            <p:ph idx="4294967295" type="body"/>
          </p:nvPr>
        </p:nvSpPr>
        <p:spPr>
          <a:xfrm>
            <a:off x="6446475" y="3747900"/>
            <a:ext cx="28533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Role:</a:t>
            </a:r>
            <a:r>
              <a:rPr lang="en">
                <a:solidFill>
                  <a:schemeClr val="dk1"/>
                </a:solidFill>
              </a:rPr>
              <a:t> Project Manager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Major:</a:t>
            </a:r>
            <a:r>
              <a:rPr lang="en">
                <a:solidFill>
                  <a:schemeClr val="dk1"/>
                </a:solidFill>
              </a:rPr>
              <a:t> Computer Science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Minor:</a:t>
            </a:r>
            <a:r>
              <a:rPr lang="en">
                <a:solidFill>
                  <a:schemeClr val="dk1"/>
                </a:solidFill>
              </a:rPr>
              <a:t> Mathematics,  Data Science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Year:</a:t>
            </a:r>
            <a:r>
              <a:rPr lang="en">
                <a:solidFill>
                  <a:schemeClr val="dk1"/>
                </a:solidFill>
              </a:rPr>
              <a:t> Senior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5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 sz="1200">
              <a:solidFill>
                <a:srgbClr val="07294D"/>
              </a:solidFill>
            </a:endParaRPr>
          </a:p>
        </p:txBody>
      </p:sp>
      <p:sp>
        <p:nvSpPr>
          <p:cNvPr id="498" name="Google Shape;498;p57"/>
          <p:cNvSpPr txBox="1"/>
          <p:nvPr>
            <p:ph idx="2" type="subTitle"/>
          </p:nvPr>
        </p:nvSpPr>
        <p:spPr>
          <a:xfrm>
            <a:off x="361975" y="1766100"/>
            <a:ext cx="2838300" cy="1477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7294D"/>
                </a:solidFill>
              </a:rPr>
              <a:t>THE </a:t>
            </a:r>
            <a:endParaRPr sz="4800">
              <a:solidFill>
                <a:srgbClr val="0729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7294D"/>
                </a:solidFill>
              </a:rPr>
              <a:t>PROBLEM</a:t>
            </a:r>
            <a:endParaRPr sz="4800">
              <a:solidFill>
                <a:srgbClr val="07294D"/>
              </a:solidFill>
            </a:endParaRPr>
          </a:p>
        </p:txBody>
      </p:sp>
      <p:sp>
        <p:nvSpPr>
          <p:cNvPr id="499" name="Google Shape;499;p57"/>
          <p:cNvSpPr txBox="1"/>
          <p:nvPr>
            <p:ph type="title"/>
          </p:nvPr>
        </p:nvSpPr>
        <p:spPr>
          <a:xfrm>
            <a:off x="3775700" y="860775"/>
            <a:ext cx="5115900" cy="38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lang="en" sz="1900">
                <a:solidFill>
                  <a:srgbClr val="07294D"/>
                </a:solidFill>
              </a:rPr>
              <a:t>Drexel </a:t>
            </a:r>
            <a:r>
              <a:rPr b="1" lang="en" sz="1900">
                <a:solidFill>
                  <a:srgbClr val="07294D"/>
                </a:solidFill>
              </a:rPr>
              <a:t>students struggle</a:t>
            </a:r>
            <a:r>
              <a:rPr lang="en" sz="1900">
                <a:solidFill>
                  <a:srgbClr val="07294D"/>
                </a:solidFill>
              </a:rPr>
              <a:t> </a:t>
            </a:r>
            <a:r>
              <a:rPr b="1" lang="en" sz="1900">
                <a:solidFill>
                  <a:srgbClr val="07294D"/>
                </a:solidFill>
              </a:rPr>
              <a:t>to coordinate </a:t>
            </a:r>
            <a:r>
              <a:rPr lang="en" sz="1900">
                <a:solidFill>
                  <a:srgbClr val="07294D"/>
                </a:solidFill>
              </a:rPr>
              <a:t>daily co-op commutes efficiently</a:t>
            </a:r>
            <a:endParaRPr sz="1900">
              <a:solidFill>
                <a:srgbClr val="07294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7294D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b="1" lang="en" sz="1900">
                <a:solidFill>
                  <a:srgbClr val="07294D"/>
                </a:solidFill>
              </a:rPr>
              <a:t>No centralized system</a:t>
            </a:r>
            <a:r>
              <a:rPr lang="en" sz="1900">
                <a:solidFill>
                  <a:srgbClr val="07294D"/>
                </a:solidFill>
              </a:rPr>
              <a:t> exists for safe, consistent ride-sharing</a:t>
            </a:r>
            <a:endParaRPr sz="1900">
              <a:solidFill>
                <a:srgbClr val="07294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7294D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b="1" lang="en" sz="1900">
                <a:solidFill>
                  <a:srgbClr val="07294D"/>
                </a:solidFill>
              </a:rPr>
              <a:t>Students </a:t>
            </a:r>
            <a:r>
              <a:rPr lang="en" sz="1900">
                <a:solidFill>
                  <a:srgbClr val="07294D"/>
                </a:solidFill>
              </a:rPr>
              <a:t>rely on </a:t>
            </a:r>
            <a:r>
              <a:rPr b="1" lang="en" sz="1900">
                <a:solidFill>
                  <a:srgbClr val="07294D"/>
                </a:solidFill>
              </a:rPr>
              <a:t>messy group chats</a:t>
            </a:r>
            <a:r>
              <a:rPr lang="en" sz="1900">
                <a:solidFill>
                  <a:srgbClr val="07294D"/>
                </a:solidFill>
              </a:rPr>
              <a:t>, social media, or ad-hoc solutions</a:t>
            </a:r>
            <a:endParaRPr sz="1900">
              <a:solidFill>
                <a:srgbClr val="07294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7294D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b="1" lang="en" sz="1900">
                <a:solidFill>
                  <a:srgbClr val="07294D"/>
                </a:solidFill>
              </a:rPr>
              <a:t>Safety concerns</a:t>
            </a:r>
            <a:r>
              <a:rPr lang="en" sz="1900">
                <a:solidFill>
                  <a:srgbClr val="07294D"/>
                </a:solidFill>
              </a:rPr>
              <a:t>, high costs (Uber/Lyft), and </a:t>
            </a:r>
            <a:r>
              <a:rPr lang="en" sz="1900">
                <a:solidFill>
                  <a:srgbClr val="07294D"/>
                </a:solidFill>
              </a:rPr>
              <a:t>logistical</a:t>
            </a:r>
            <a:r>
              <a:rPr lang="en" sz="1900">
                <a:solidFill>
                  <a:srgbClr val="07294D"/>
                </a:solidFill>
              </a:rPr>
              <a:t> </a:t>
            </a:r>
            <a:r>
              <a:rPr lang="en" sz="1900">
                <a:solidFill>
                  <a:srgbClr val="07294D"/>
                </a:solidFill>
              </a:rPr>
              <a:t>uncertainty</a:t>
            </a:r>
            <a:r>
              <a:rPr lang="en" sz="1900">
                <a:solidFill>
                  <a:srgbClr val="07294D"/>
                </a:solidFill>
              </a:rPr>
              <a:t> deter many from carpooli</a:t>
            </a:r>
            <a:r>
              <a:rPr lang="en" sz="1900">
                <a:solidFill>
                  <a:srgbClr val="07294D"/>
                </a:solidFill>
              </a:rPr>
              <a:t>ng or public transit</a:t>
            </a:r>
            <a:endParaRPr sz="1900"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294D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8"/>
          <p:cNvSpPr/>
          <p:nvPr/>
        </p:nvSpPr>
        <p:spPr>
          <a:xfrm>
            <a:off x="1276500" y="2519925"/>
            <a:ext cx="2294400" cy="10761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5" name="Google Shape;505;p58"/>
          <p:cNvSpPr/>
          <p:nvPr/>
        </p:nvSpPr>
        <p:spPr>
          <a:xfrm>
            <a:off x="1276488" y="3736500"/>
            <a:ext cx="2294400" cy="10761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6" name="Google Shape;506;p58"/>
          <p:cNvSpPr/>
          <p:nvPr/>
        </p:nvSpPr>
        <p:spPr>
          <a:xfrm>
            <a:off x="1306950" y="1303338"/>
            <a:ext cx="2294400" cy="10761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7" name="Google Shape;507;p58"/>
          <p:cNvSpPr txBox="1"/>
          <p:nvPr>
            <p:ph idx="4294967295" type="subTitle"/>
          </p:nvPr>
        </p:nvSpPr>
        <p:spPr>
          <a:xfrm>
            <a:off x="1276500" y="3742743"/>
            <a:ext cx="16458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8" name="Google Shape;508;p58"/>
          <p:cNvSpPr txBox="1"/>
          <p:nvPr>
            <p:ph idx="4294967295" type="subTitle"/>
          </p:nvPr>
        </p:nvSpPr>
        <p:spPr>
          <a:xfrm>
            <a:off x="1470288" y="3928225"/>
            <a:ext cx="1967700" cy="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Communicate Through Built-in Messaging</a:t>
            </a:r>
            <a:endParaRPr/>
          </a:p>
        </p:txBody>
      </p:sp>
      <p:sp>
        <p:nvSpPr>
          <p:cNvPr id="509" name="Google Shape;509;p58"/>
          <p:cNvSpPr txBox="1"/>
          <p:nvPr>
            <p:ph idx="4294967295" type="subTitle"/>
          </p:nvPr>
        </p:nvSpPr>
        <p:spPr>
          <a:xfrm>
            <a:off x="1276500" y="2526156"/>
            <a:ext cx="16458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0" name="Google Shape;510;p58"/>
          <p:cNvSpPr txBox="1"/>
          <p:nvPr>
            <p:ph idx="4294967295" type="subTitle"/>
          </p:nvPr>
        </p:nvSpPr>
        <p:spPr>
          <a:xfrm>
            <a:off x="1691400" y="2777100"/>
            <a:ext cx="14646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Low-Cost &amp; Safety First </a:t>
            </a:r>
            <a:endParaRPr/>
          </a:p>
        </p:txBody>
      </p:sp>
      <p:sp>
        <p:nvSpPr>
          <p:cNvPr id="511" name="Google Shape;511;p58"/>
          <p:cNvSpPr txBox="1"/>
          <p:nvPr>
            <p:ph idx="4294967295" type="subTitle"/>
          </p:nvPr>
        </p:nvSpPr>
        <p:spPr>
          <a:xfrm>
            <a:off x="1306950" y="1309567"/>
            <a:ext cx="16458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12" name="Google Shape;512;p58"/>
          <p:cNvSpPr txBox="1"/>
          <p:nvPr>
            <p:ph idx="4294967295" type="subTitle"/>
          </p:nvPr>
        </p:nvSpPr>
        <p:spPr>
          <a:xfrm>
            <a:off x="1742100" y="1610538"/>
            <a:ext cx="1424100" cy="3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&amp; Request Rides</a:t>
            </a:r>
            <a:endParaRPr/>
          </a:p>
        </p:txBody>
      </p:sp>
      <p:sp>
        <p:nvSpPr>
          <p:cNvPr id="513" name="Google Shape;513;p58"/>
          <p:cNvSpPr txBox="1"/>
          <p:nvPr>
            <p:ph type="title"/>
          </p:nvPr>
        </p:nvSpPr>
        <p:spPr>
          <a:xfrm>
            <a:off x="524100" y="57517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</a:t>
            </a:r>
            <a:endParaRPr/>
          </a:p>
        </p:txBody>
      </p:sp>
      <p:sp>
        <p:nvSpPr>
          <p:cNvPr id="514" name="Google Shape;514;p58"/>
          <p:cNvSpPr/>
          <p:nvPr/>
        </p:nvSpPr>
        <p:spPr>
          <a:xfrm>
            <a:off x="5683425" y="0"/>
            <a:ext cx="3460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5" name="Google Shape;51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300" y="49818"/>
            <a:ext cx="2405674" cy="5043856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5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/>
          </a:p>
        </p:txBody>
      </p:sp>
      <p:sp>
        <p:nvSpPr>
          <p:cNvPr id="522" name="Google Shape;522;p59"/>
          <p:cNvSpPr txBox="1"/>
          <p:nvPr>
            <p:ph type="title"/>
          </p:nvPr>
        </p:nvSpPr>
        <p:spPr>
          <a:xfrm>
            <a:off x="340950" y="631878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Target Users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523" name="Google Shape;523;p59"/>
          <p:cNvSpPr/>
          <p:nvPr/>
        </p:nvSpPr>
        <p:spPr>
          <a:xfrm>
            <a:off x="2597550" y="3243900"/>
            <a:ext cx="1809900" cy="1788600"/>
          </a:xfrm>
          <a:prstGeom prst="ellipse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Anyone 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Coordinating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Campus Rides</a:t>
            </a:r>
            <a:endParaRPr sz="1600">
              <a:solidFill>
                <a:srgbClr val="07294D"/>
              </a:solidFill>
              <a:highlight>
                <a:srgbClr val="07294D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59"/>
          <p:cNvSpPr/>
          <p:nvPr/>
        </p:nvSpPr>
        <p:spPr>
          <a:xfrm>
            <a:off x="6966775" y="3243900"/>
            <a:ext cx="1809900" cy="1788600"/>
          </a:xfrm>
          <a:prstGeom prst="ellipse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Students Without Cars</a:t>
            </a:r>
            <a:endParaRPr sz="1600">
              <a:solidFill>
                <a:srgbClr val="07294D"/>
              </a:solidFill>
              <a:highlight>
                <a:srgbClr val="07294D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5" name="Google Shape;525;p59"/>
          <p:cNvSpPr/>
          <p:nvPr/>
        </p:nvSpPr>
        <p:spPr>
          <a:xfrm>
            <a:off x="4782163" y="1455300"/>
            <a:ext cx="1809900" cy="1788600"/>
          </a:xfrm>
          <a:prstGeom prst="ellipse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Commuters</a:t>
            </a:r>
            <a:endParaRPr sz="1600">
              <a:solidFill>
                <a:srgbClr val="07294D"/>
              </a:solidFill>
              <a:highlight>
                <a:srgbClr val="07294D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6" name="Google Shape;526;p59"/>
          <p:cNvSpPr/>
          <p:nvPr/>
        </p:nvSpPr>
        <p:spPr>
          <a:xfrm>
            <a:off x="613800" y="1549200"/>
            <a:ext cx="1809900" cy="1788600"/>
          </a:xfrm>
          <a:prstGeom prst="ellipse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Drexel Students</a:t>
            </a:r>
            <a:endParaRPr sz="1600">
              <a:solidFill>
                <a:srgbClr val="07294D"/>
              </a:solidFill>
              <a:highlight>
                <a:srgbClr val="07294D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0"/>
          <p:cNvSpPr txBox="1"/>
          <p:nvPr>
            <p:ph type="title"/>
          </p:nvPr>
        </p:nvSpPr>
        <p:spPr>
          <a:xfrm>
            <a:off x="361975" y="1559300"/>
            <a:ext cx="3413700" cy="1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The Planning Process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532" name="Google Shape;532;p60"/>
          <p:cNvSpPr txBox="1"/>
          <p:nvPr>
            <p:ph idx="4294967295" type="title"/>
          </p:nvPr>
        </p:nvSpPr>
        <p:spPr>
          <a:xfrm>
            <a:off x="4428425" y="1160000"/>
            <a:ext cx="4414500" cy="20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2100"/>
              <a:buChar char="●"/>
            </a:pPr>
            <a:r>
              <a:rPr lang="en" sz="2100">
                <a:solidFill>
                  <a:srgbClr val="07294D"/>
                </a:solidFill>
              </a:rPr>
              <a:t>Requirements gathering</a:t>
            </a:r>
            <a:endParaRPr sz="2100">
              <a:solidFill>
                <a:srgbClr val="07294D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2100"/>
              <a:buChar char="●"/>
            </a:pPr>
            <a:r>
              <a:rPr lang="en" sz="2100">
                <a:solidFill>
                  <a:srgbClr val="07294D"/>
                </a:solidFill>
              </a:rPr>
              <a:t>ER diagram</a:t>
            </a:r>
            <a:endParaRPr sz="2100">
              <a:solidFill>
                <a:srgbClr val="07294D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2100"/>
              <a:buChar char="●"/>
            </a:pPr>
            <a:r>
              <a:rPr lang="en" sz="2100">
                <a:solidFill>
                  <a:srgbClr val="07294D"/>
                </a:solidFill>
              </a:rPr>
              <a:t>Relational model</a:t>
            </a:r>
            <a:endParaRPr sz="2100">
              <a:solidFill>
                <a:srgbClr val="07294D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2100"/>
              <a:buChar char="●"/>
            </a:pPr>
            <a:r>
              <a:rPr lang="en" sz="2100">
                <a:solidFill>
                  <a:srgbClr val="07294D"/>
                </a:solidFill>
              </a:rPr>
              <a:t>Schema creation</a:t>
            </a:r>
            <a:endParaRPr sz="2100">
              <a:solidFill>
                <a:srgbClr val="07294D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2100"/>
              <a:buChar char="●"/>
            </a:pPr>
            <a:r>
              <a:rPr lang="en" sz="2100">
                <a:solidFill>
                  <a:srgbClr val="07294D"/>
                </a:solidFill>
              </a:rPr>
              <a:t>Kotlin </a:t>
            </a:r>
            <a:r>
              <a:rPr lang="en" sz="2100">
                <a:solidFill>
                  <a:srgbClr val="07294D"/>
                </a:solidFill>
              </a:rPr>
              <a:t>multi platform</a:t>
            </a:r>
            <a:r>
              <a:rPr lang="en" sz="2100">
                <a:solidFill>
                  <a:srgbClr val="07294D"/>
                </a:solidFill>
              </a:rPr>
              <a:t> architecture</a:t>
            </a:r>
            <a:endParaRPr sz="2100">
              <a:solidFill>
                <a:srgbClr val="07294D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2100"/>
              <a:buChar char="●"/>
            </a:pPr>
            <a:r>
              <a:rPr lang="en" sz="2100">
                <a:solidFill>
                  <a:srgbClr val="07294D"/>
                </a:solidFill>
              </a:rPr>
              <a:t>UI → Repository → SQLite flow</a:t>
            </a:r>
            <a:endParaRPr sz="2100"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"/>
          <p:cNvSpPr/>
          <p:nvPr/>
        </p:nvSpPr>
        <p:spPr>
          <a:xfrm>
            <a:off x="2286125" y="960750"/>
            <a:ext cx="22944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4565475" y="960750"/>
            <a:ext cx="22944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1"/>
          <p:cNvSpPr/>
          <p:nvPr/>
        </p:nvSpPr>
        <p:spPr>
          <a:xfrm>
            <a:off x="50" y="960750"/>
            <a:ext cx="22944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61"/>
          <p:cNvSpPr/>
          <p:nvPr/>
        </p:nvSpPr>
        <p:spPr>
          <a:xfrm>
            <a:off x="6849550" y="960750"/>
            <a:ext cx="22944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6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1"/>
          <p:cNvSpPr txBox="1"/>
          <p:nvPr>
            <p:ph idx="6" type="subTitle"/>
          </p:nvPr>
        </p:nvSpPr>
        <p:spPr>
          <a:xfrm>
            <a:off x="4892138" y="12327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4" name="Google Shape;544;p61"/>
          <p:cNvSpPr txBox="1"/>
          <p:nvPr>
            <p:ph idx="3" type="subTitle"/>
          </p:nvPr>
        </p:nvSpPr>
        <p:spPr>
          <a:xfrm>
            <a:off x="7130875" y="12327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45" name="Google Shape;545;p61"/>
          <p:cNvSpPr txBox="1"/>
          <p:nvPr>
            <p:ph idx="7" type="subTitle"/>
          </p:nvPr>
        </p:nvSpPr>
        <p:spPr>
          <a:xfrm>
            <a:off x="4892138" y="14370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Rides</a:t>
            </a:r>
            <a:endParaRPr/>
          </a:p>
        </p:txBody>
      </p:sp>
      <p:sp>
        <p:nvSpPr>
          <p:cNvPr id="546" name="Google Shape;546;p61"/>
          <p:cNvSpPr txBox="1"/>
          <p:nvPr>
            <p:ph idx="4" type="subTitle"/>
          </p:nvPr>
        </p:nvSpPr>
        <p:spPr>
          <a:xfrm>
            <a:off x="7130875" y="14370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Affordable &amp; Incentivized</a:t>
            </a:r>
            <a:endParaRPr/>
          </a:p>
        </p:txBody>
      </p:sp>
      <p:sp>
        <p:nvSpPr>
          <p:cNvPr id="547" name="Google Shape;547;p61"/>
          <p:cNvSpPr txBox="1"/>
          <p:nvPr>
            <p:ph idx="9" type="subTitle"/>
          </p:nvPr>
        </p:nvSpPr>
        <p:spPr>
          <a:xfrm>
            <a:off x="2607050" y="12327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8" name="Google Shape;548;p61"/>
          <p:cNvSpPr txBox="1"/>
          <p:nvPr>
            <p:ph idx="13" type="subTitle"/>
          </p:nvPr>
        </p:nvSpPr>
        <p:spPr>
          <a:xfrm>
            <a:off x="2607050" y="14370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Rides</a:t>
            </a:r>
            <a:endParaRPr/>
          </a:p>
        </p:txBody>
      </p:sp>
      <p:sp>
        <p:nvSpPr>
          <p:cNvPr id="549" name="Google Shape;549;p61"/>
          <p:cNvSpPr txBox="1"/>
          <p:nvPr>
            <p:ph idx="15" type="subTitle"/>
          </p:nvPr>
        </p:nvSpPr>
        <p:spPr>
          <a:xfrm>
            <a:off x="361975" y="12327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50" name="Google Shape;550;p61"/>
          <p:cNvSpPr txBox="1"/>
          <p:nvPr>
            <p:ph idx="16" type="subTitle"/>
          </p:nvPr>
        </p:nvSpPr>
        <p:spPr>
          <a:xfrm>
            <a:off x="361975" y="143707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Drexel-Authenticated Login &amp; Profiles</a:t>
            </a:r>
            <a:endParaRPr/>
          </a:p>
        </p:txBody>
      </p:sp>
      <p:sp>
        <p:nvSpPr>
          <p:cNvPr id="551" name="Google Shape;551;p61"/>
          <p:cNvSpPr txBox="1"/>
          <p:nvPr>
            <p:ph type="title"/>
          </p:nvPr>
        </p:nvSpPr>
        <p:spPr>
          <a:xfrm>
            <a:off x="1406550" y="217732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Core Features (Summary)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552" name="Google Shape;552;p61"/>
          <p:cNvSpPr/>
          <p:nvPr/>
        </p:nvSpPr>
        <p:spPr>
          <a:xfrm>
            <a:off x="2302763" y="3039075"/>
            <a:ext cx="22944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3" name="Google Shape;553;p61"/>
          <p:cNvSpPr/>
          <p:nvPr/>
        </p:nvSpPr>
        <p:spPr>
          <a:xfrm>
            <a:off x="4544675" y="3039075"/>
            <a:ext cx="23298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61"/>
          <p:cNvSpPr/>
          <p:nvPr/>
        </p:nvSpPr>
        <p:spPr>
          <a:xfrm>
            <a:off x="25" y="3039075"/>
            <a:ext cx="23298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5" name="Google Shape;555;p61"/>
          <p:cNvSpPr/>
          <p:nvPr/>
        </p:nvSpPr>
        <p:spPr>
          <a:xfrm>
            <a:off x="6849550" y="3039075"/>
            <a:ext cx="2294400" cy="8409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6" name="Google Shape;556;p61"/>
          <p:cNvSpPr txBox="1"/>
          <p:nvPr>
            <p:ph idx="6" type="subTitle"/>
          </p:nvPr>
        </p:nvSpPr>
        <p:spPr>
          <a:xfrm>
            <a:off x="4892138" y="31790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557" name="Google Shape;557;p61"/>
          <p:cNvSpPr txBox="1"/>
          <p:nvPr>
            <p:ph idx="3" type="subTitle"/>
          </p:nvPr>
        </p:nvSpPr>
        <p:spPr>
          <a:xfrm>
            <a:off x="7130875" y="31790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558" name="Google Shape;558;p61"/>
          <p:cNvSpPr txBox="1"/>
          <p:nvPr>
            <p:ph idx="7" type="subTitle"/>
          </p:nvPr>
        </p:nvSpPr>
        <p:spPr>
          <a:xfrm>
            <a:off x="4892138" y="33833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Kotlin Multiplatform</a:t>
            </a:r>
            <a:endParaRPr/>
          </a:p>
        </p:txBody>
      </p:sp>
      <p:sp>
        <p:nvSpPr>
          <p:cNvPr id="559" name="Google Shape;559;p61"/>
          <p:cNvSpPr txBox="1"/>
          <p:nvPr>
            <p:ph idx="4" type="subTitle"/>
          </p:nvPr>
        </p:nvSpPr>
        <p:spPr>
          <a:xfrm>
            <a:off x="7130875" y="33833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Status Update (Planned)</a:t>
            </a:r>
            <a:endParaRPr/>
          </a:p>
        </p:txBody>
      </p:sp>
      <p:sp>
        <p:nvSpPr>
          <p:cNvPr id="560" name="Google Shape;560;p61"/>
          <p:cNvSpPr txBox="1"/>
          <p:nvPr>
            <p:ph idx="9" type="subTitle"/>
          </p:nvPr>
        </p:nvSpPr>
        <p:spPr>
          <a:xfrm>
            <a:off x="2607050" y="31790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61" name="Google Shape;561;p61"/>
          <p:cNvSpPr txBox="1"/>
          <p:nvPr>
            <p:ph idx="13" type="subTitle"/>
          </p:nvPr>
        </p:nvSpPr>
        <p:spPr>
          <a:xfrm>
            <a:off x="2607050" y="33833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SQLite Storage</a:t>
            </a:r>
            <a:endParaRPr/>
          </a:p>
        </p:txBody>
      </p:sp>
      <p:sp>
        <p:nvSpPr>
          <p:cNvPr id="562" name="Google Shape;562;p61"/>
          <p:cNvSpPr txBox="1"/>
          <p:nvPr>
            <p:ph idx="15" type="subTitle"/>
          </p:nvPr>
        </p:nvSpPr>
        <p:spPr>
          <a:xfrm>
            <a:off x="361975" y="31790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63" name="Google Shape;563;p61"/>
          <p:cNvSpPr txBox="1"/>
          <p:nvPr>
            <p:ph idx="16" type="subTitle"/>
          </p:nvPr>
        </p:nvSpPr>
        <p:spPr>
          <a:xfrm>
            <a:off x="361975" y="3383320"/>
            <a:ext cx="1645800" cy="152400"/>
          </a:xfrm>
          <a:prstGeom prst="rect">
            <a:avLst/>
          </a:prstGeom>
          <a:solidFill>
            <a:srgbClr val="07294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In-App Messaging</a:t>
            </a:r>
            <a:endParaRPr/>
          </a:p>
        </p:txBody>
      </p:sp>
      <p:sp>
        <p:nvSpPr>
          <p:cNvPr id="564" name="Google Shape;564;p61"/>
          <p:cNvSpPr txBox="1"/>
          <p:nvPr/>
        </p:nvSpPr>
        <p:spPr>
          <a:xfrm>
            <a:off x="210500" y="1866275"/>
            <a:ext cx="201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Secure login via Drexel Single Sign On - only </a:t>
            </a:r>
            <a:r>
              <a:rPr lang="en" sz="10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@drexel.edu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users can register. Profiles store essential user info like name, role (driver/rider), and contact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5" name="Google Shape;565;p61"/>
          <p:cNvSpPr txBox="1"/>
          <p:nvPr/>
        </p:nvSpPr>
        <p:spPr>
          <a:xfrm>
            <a:off x="4826913" y="1830150"/>
            <a:ext cx="187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Riders can post available rides with pickup/drop details, choose how many seats to offer, and set optional preferences like price, timing, and car info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61"/>
          <p:cNvSpPr txBox="1"/>
          <p:nvPr/>
        </p:nvSpPr>
        <p:spPr>
          <a:xfrm>
            <a:off x="248125" y="3944575"/>
            <a:ext cx="187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Built-in char with thread-based message history for smooth communication between riders and drivers - no external apps required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7" name="Google Shape;567;p61"/>
          <p:cNvSpPr txBox="1"/>
          <p:nvPr/>
        </p:nvSpPr>
        <p:spPr>
          <a:xfrm>
            <a:off x="2423700" y="3944600"/>
            <a:ext cx="187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Offline-first design with local caching of rides, messaging, and 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preferences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using SQLite - ensures consistency, and long-term scalability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61"/>
          <p:cNvSpPr txBox="1"/>
          <p:nvPr/>
        </p:nvSpPr>
        <p:spPr>
          <a:xfrm>
            <a:off x="4892150" y="3944575"/>
            <a:ext cx="1873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Shared logic across Android and iOS using a single Kotlin codebase - improves performance, consistency, and long-term scalability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9" name="Google Shape;569;p61"/>
          <p:cNvSpPr txBox="1"/>
          <p:nvPr/>
        </p:nvSpPr>
        <p:spPr>
          <a:xfrm>
            <a:off x="7060000" y="3944600"/>
            <a:ext cx="1873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Future addition of live ride status, push 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notifications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, and sync for confirmations, cancellations, and driver arrival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0" name="Google Shape;570;p61"/>
          <p:cNvSpPr txBox="1"/>
          <p:nvPr/>
        </p:nvSpPr>
        <p:spPr>
          <a:xfrm>
            <a:off x="2522963" y="1830150"/>
            <a:ext cx="187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Drivers can post available rides with pickup/drop details, choose how many seats to offer, and set operational preferences like price, timing, and car info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1" name="Google Shape;571;p61"/>
          <p:cNvSpPr txBox="1"/>
          <p:nvPr/>
        </p:nvSpPr>
        <p:spPr>
          <a:xfrm>
            <a:off x="7130875" y="1812525"/>
            <a:ext cx="187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Riders save on commute costs with student-friendly pricing, while drivers can earn money for sharing their ride - a win-win model for everyone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/>
          <p:nvPr/>
        </p:nvSpPr>
        <p:spPr>
          <a:xfrm>
            <a:off x="423600" y="1569425"/>
            <a:ext cx="3308400" cy="15657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txBody>
          <a:bodyPr anchorCtr="0" anchor="ctr" bIns="112125" lIns="112125" spcFirstLastPara="1" rIns="112125" wrap="square" tIns="11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7" name="Google Shape;577;p62"/>
          <p:cNvSpPr/>
          <p:nvPr/>
        </p:nvSpPr>
        <p:spPr>
          <a:xfrm>
            <a:off x="423600" y="3135125"/>
            <a:ext cx="3308400" cy="15657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112125" lIns="112125" spcFirstLastPara="1" rIns="112125" wrap="square" tIns="11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8" name="Google Shape;578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6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2"/>
          <p:cNvSpPr txBox="1"/>
          <p:nvPr>
            <p:ph idx="2" type="body"/>
          </p:nvPr>
        </p:nvSpPr>
        <p:spPr>
          <a:xfrm>
            <a:off x="423603" y="2040625"/>
            <a:ext cx="3140400" cy="9816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SzPts val="1226"/>
              <a:buChar char="●"/>
            </a:pPr>
            <a:r>
              <a:rPr lang="en" sz="1226"/>
              <a:t>Business Logic</a:t>
            </a:r>
            <a:endParaRPr sz="1226"/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SzPts val="1226"/>
              <a:buChar char="●"/>
            </a:pPr>
            <a:r>
              <a:rPr lang="en" sz="1226"/>
              <a:t>SQLite Database </a:t>
            </a:r>
            <a:endParaRPr sz="1226"/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SzPts val="1226"/>
              <a:buChar char="●"/>
            </a:pPr>
            <a:r>
              <a:rPr lang="en" sz="1226"/>
              <a:t>Repositories</a:t>
            </a:r>
            <a:endParaRPr sz="1226"/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SzPts val="1226"/>
              <a:buChar char="●"/>
            </a:pPr>
            <a:r>
              <a:rPr lang="en" sz="1226"/>
              <a:t>ViewModels</a:t>
            </a:r>
            <a:endParaRPr sz="1226"/>
          </a:p>
        </p:txBody>
      </p:sp>
      <p:sp>
        <p:nvSpPr>
          <p:cNvPr id="581" name="Google Shape;581;p62"/>
          <p:cNvSpPr txBox="1"/>
          <p:nvPr>
            <p:ph idx="3" type="subTitle"/>
          </p:nvPr>
        </p:nvSpPr>
        <p:spPr>
          <a:xfrm>
            <a:off x="423602" y="1549825"/>
            <a:ext cx="3308400" cy="4908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17"/>
              <a:t>Shared Layer:</a:t>
            </a:r>
            <a:endParaRPr sz="1717"/>
          </a:p>
        </p:txBody>
      </p:sp>
      <p:sp>
        <p:nvSpPr>
          <p:cNvPr id="582" name="Google Shape;582;p62"/>
          <p:cNvSpPr txBox="1"/>
          <p:nvPr>
            <p:ph idx="5" type="subTitle"/>
          </p:nvPr>
        </p:nvSpPr>
        <p:spPr>
          <a:xfrm>
            <a:off x="423611" y="3135131"/>
            <a:ext cx="4148400" cy="4908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17"/>
              <a:t>Platform Layers:</a:t>
            </a:r>
            <a:endParaRPr sz="1717"/>
          </a:p>
        </p:txBody>
      </p:sp>
      <p:sp>
        <p:nvSpPr>
          <p:cNvPr id="583" name="Google Shape;583;p62"/>
          <p:cNvSpPr txBox="1"/>
          <p:nvPr>
            <p:ph type="title"/>
          </p:nvPr>
        </p:nvSpPr>
        <p:spPr>
          <a:xfrm>
            <a:off x="361975" y="732775"/>
            <a:ext cx="5338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System Architecture + Database Tables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584" name="Google Shape;584;p62"/>
          <p:cNvSpPr txBox="1"/>
          <p:nvPr>
            <p:ph idx="2" type="body"/>
          </p:nvPr>
        </p:nvSpPr>
        <p:spPr>
          <a:xfrm>
            <a:off x="423611" y="3521529"/>
            <a:ext cx="4148400" cy="7929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Android UI (Jetpack Compose)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Desktop UI (Compose Desktop)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iOS UI (Compose for iOS)</a:t>
            </a:r>
            <a:endParaRPr sz="1226">
              <a:solidFill>
                <a:schemeClr val="dk1"/>
              </a:solidFill>
            </a:endParaRPr>
          </a:p>
        </p:txBody>
      </p:sp>
      <p:sp>
        <p:nvSpPr>
          <p:cNvPr id="585" name="Google Shape;585;p62"/>
          <p:cNvSpPr/>
          <p:nvPr/>
        </p:nvSpPr>
        <p:spPr>
          <a:xfrm>
            <a:off x="4919575" y="1549800"/>
            <a:ext cx="3308400" cy="31314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112125" lIns="112125" spcFirstLastPara="1" rIns="112125" wrap="square" tIns="11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62"/>
          <p:cNvSpPr txBox="1"/>
          <p:nvPr>
            <p:ph idx="3" type="subTitle"/>
          </p:nvPr>
        </p:nvSpPr>
        <p:spPr>
          <a:xfrm>
            <a:off x="4919577" y="1549825"/>
            <a:ext cx="3308400" cy="4908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17">
                <a:solidFill>
                  <a:schemeClr val="dk1"/>
                </a:solidFill>
              </a:rPr>
              <a:t>Database Tables:</a:t>
            </a:r>
            <a:endParaRPr sz="1717">
              <a:solidFill>
                <a:schemeClr val="dk1"/>
              </a:solidFill>
            </a:endParaRPr>
          </a:p>
        </p:txBody>
      </p:sp>
      <p:sp>
        <p:nvSpPr>
          <p:cNvPr id="587" name="Google Shape;587;p62"/>
          <p:cNvSpPr txBox="1"/>
          <p:nvPr>
            <p:ph idx="2" type="body"/>
          </p:nvPr>
        </p:nvSpPr>
        <p:spPr>
          <a:xfrm>
            <a:off x="4919575" y="2040625"/>
            <a:ext cx="3262200" cy="19254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USER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VEHICLE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LOCATION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RIDE_OFFER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RIDE_REQUEST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RIDE_MATCH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RATING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MESSAGE_THREAD</a:t>
            </a:r>
            <a:endParaRPr sz="1226">
              <a:solidFill>
                <a:schemeClr val="dk1"/>
              </a:solidFill>
            </a:endParaRPr>
          </a:p>
          <a:p>
            <a:pPr indent="-30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6"/>
              <a:buChar char="●"/>
            </a:pPr>
            <a:r>
              <a:rPr lang="en" sz="1226">
                <a:solidFill>
                  <a:schemeClr val="dk1"/>
                </a:solidFill>
              </a:rPr>
              <a:t>MESSAGE</a:t>
            </a:r>
            <a:endParaRPr sz="1226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3" name="Google Shape;593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3"/>
          <p:cNvSpPr txBox="1"/>
          <p:nvPr>
            <p:ph type="title"/>
          </p:nvPr>
        </p:nvSpPr>
        <p:spPr>
          <a:xfrm>
            <a:off x="361975" y="732775"/>
            <a:ext cx="5338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Database Schema Example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595" name="Google Shape;595;p63"/>
          <p:cNvSpPr/>
          <p:nvPr/>
        </p:nvSpPr>
        <p:spPr>
          <a:xfrm>
            <a:off x="361975" y="1205975"/>
            <a:ext cx="8562000" cy="3772500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txBody>
          <a:bodyPr anchorCtr="0" anchor="ctr" bIns="112125" lIns="112125" spcFirstLastPara="1" rIns="112125" wrap="square" tIns="11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6" name="Google Shape;596;p63"/>
          <p:cNvSpPr txBox="1"/>
          <p:nvPr>
            <p:ph idx="3" type="subTitle"/>
          </p:nvPr>
        </p:nvSpPr>
        <p:spPr>
          <a:xfrm>
            <a:off x="361977" y="1205975"/>
            <a:ext cx="3308400" cy="4908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17">
                <a:solidFill>
                  <a:schemeClr val="dk1"/>
                </a:solidFill>
              </a:rPr>
              <a:t>USER</a:t>
            </a:r>
            <a:endParaRPr sz="1717">
              <a:solidFill>
                <a:schemeClr val="dk1"/>
              </a:solidFill>
            </a:endParaRPr>
          </a:p>
        </p:txBody>
      </p:sp>
      <p:graphicFrame>
        <p:nvGraphicFramePr>
          <p:cNvPr id="597" name="Google Shape;597;p63"/>
          <p:cNvGraphicFramePr/>
          <p:nvPr/>
        </p:nvGraphicFramePr>
        <p:xfrm>
          <a:off x="361975" y="16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{69EC201C-83F7-4F2B-9DE7-B3F0ED273437}</a:tableStyleId>
              </a:tblPr>
              <a:tblGrid>
                <a:gridCol w="2140500"/>
                <a:gridCol w="2140500"/>
                <a:gridCol w="2140500"/>
                <a:gridCol w="2140500"/>
              </a:tblGrid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Column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Type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Constraints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user_id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INTEGER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PRIMARY KEY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Unique Id for each user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email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NOT NULL, UNIQUE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User’s email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username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NOT NULL, UNIQUE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Display username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password_hash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NOT NULL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Password hash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phone_number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(optional)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Phone number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role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CHECK (role in ‘rider’,’driver’,’both), NOT NULL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User type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rating_avg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REAL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CHECK (0-5), DEFAULT 2.5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Average rating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created_at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NOT NULL, DEFAULT datetime(‘now’)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Sign Up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timestamp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294D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3" name="Google Shape;603;p6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FindMyRide</a:t>
            </a:r>
            <a:endParaRPr/>
          </a:p>
        </p:txBody>
      </p:sp>
      <p:sp>
        <p:nvSpPr>
          <p:cNvPr id="604" name="Google Shape;604;p64"/>
          <p:cNvSpPr txBox="1"/>
          <p:nvPr>
            <p:ph idx="3" type="subTitle"/>
          </p:nvPr>
        </p:nvSpPr>
        <p:spPr>
          <a:xfrm>
            <a:off x="5951650" y="4932582"/>
            <a:ext cx="2303700" cy="124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ER Diagram with </a:t>
            </a:r>
            <a:r>
              <a:rPr lang="en" sz="900"/>
              <a:t>Chen</a:t>
            </a:r>
            <a:r>
              <a:rPr lang="en" sz="900"/>
              <a:t> Notation</a:t>
            </a:r>
            <a:endParaRPr sz="900"/>
          </a:p>
        </p:txBody>
      </p:sp>
      <p:pic>
        <p:nvPicPr>
          <p:cNvPr id="605" name="Google Shape;6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75" y="455336"/>
            <a:ext cx="4814401" cy="4602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64"/>
          <p:cNvSpPr txBox="1"/>
          <p:nvPr>
            <p:ph type="title"/>
          </p:nvPr>
        </p:nvSpPr>
        <p:spPr>
          <a:xfrm>
            <a:off x="5544250" y="451725"/>
            <a:ext cx="3118500" cy="37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Database Design ER Diagram</a:t>
            </a:r>
            <a:endParaRPr sz="1900"/>
          </a:p>
        </p:txBody>
      </p:sp>
      <p:sp>
        <p:nvSpPr>
          <p:cNvPr id="607" name="Google Shape;607;p64"/>
          <p:cNvSpPr txBox="1"/>
          <p:nvPr/>
        </p:nvSpPr>
        <p:spPr>
          <a:xfrm>
            <a:off x="5603500" y="969000"/>
            <a:ext cx="3000000" cy="3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Tables: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</a:t>
            </a:r>
            <a:r>
              <a:rPr lang="en" sz="1100">
                <a:solidFill>
                  <a:schemeClr val="dk1"/>
                </a:solidFill>
              </a:rPr>
              <a:t>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Vehicles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RideRequests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MessageThreads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Messages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Relationships: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→ Vehicles (1-many)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→ Rides (1-many)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Thread → Messages (1-many)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294D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6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FindMyRide</a:t>
            </a:r>
            <a:endParaRPr/>
          </a:p>
        </p:txBody>
      </p:sp>
      <p:sp>
        <p:nvSpPr>
          <p:cNvPr id="614" name="Google Shape;614;p65"/>
          <p:cNvSpPr txBox="1"/>
          <p:nvPr>
            <p:ph idx="3" type="subTitle"/>
          </p:nvPr>
        </p:nvSpPr>
        <p:spPr>
          <a:xfrm>
            <a:off x="6802800" y="4941375"/>
            <a:ext cx="1422300" cy="124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Relational Diagram</a:t>
            </a:r>
            <a:endParaRPr sz="900"/>
          </a:p>
        </p:txBody>
      </p:sp>
      <p:sp>
        <p:nvSpPr>
          <p:cNvPr id="615" name="Google Shape;615;p65"/>
          <p:cNvSpPr txBox="1"/>
          <p:nvPr>
            <p:ph type="title"/>
          </p:nvPr>
        </p:nvSpPr>
        <p:spPr>
          <a:xfrm>
            <a:off x="5544250" y="369300"/>
            <a:ext cx="3118500" cy="37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Relational Database Design</a:t>
            </a:r>
            <a:endParaRPr sz="1900"/>
          </a:p>
        </p:txBody>
      </p:sp>
      <p:pic>
        <p:nvPicPr>
          <p:cNvPr id="616" name="Google Shape;61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25" y="824625"/>
            <a:ext cx="6154942" cy="39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5"/>
          <p:cNvSpPr txBox="1"/>
          <p:nvPr/>
        </p:nvSpPr>
        <p:spPr>
          <a:xfrm>
            <a:off x="6358175" y="969000"/>
            <a:ext cx="3000000" cy="3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Tables: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Vehicles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RideRequests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MessageThreads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Messages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Relationships: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→ Vehicles (1-many)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→ Rides (1-many)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Thread → Messages (1-many)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6"/>
          <p:cNvSpPr/>
          <p:nvPr/>
        </p:nvSpPr>
        <p:spPr>
          <a:xfrm>
            <a:off x="2286118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3" name="Google Shape;623;p66"/>
          <p:cNvSpPr/>
          <p:nvPr/>
        </p:nvSpPr>
        <p:spPr>
          <a:xfrm>
            <a:off x="4565474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4" name="Google Shape;624;p66"/>
          <p:cNvSpPr/>
          <p:nvPr/>
        </p:nvSpPr>
        <p:spPr>
          <a:xfrm>
            <a:off x="50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5" name="Google Shape;625;p66"/>
          <p:cNvSpPr/>
          <p:nvPr/>
        </p:nvSpPr>
        <p:spPr>
          <a:xfrm>
            <a:off x="6849550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6" name="Google Shape;626;p66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Built a modular SQLite helper to manage tables, schema upgrades, and safe inserts - keeping data persistent andapp state clean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27" name="Google Shape;627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6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 sz="1200">
              <a:solidFill>
                <a:srgbClr val="07294D"/>
              </a:solidFill>
            </a:endParaRPr>
          </a:p>
        </p:txBody>
      </p:sp>
      <p:sp>
        <p:nvSpPr>
          <p:cNvPr id="629" name="Google Shape;629;p66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To bypass emulator issues, we shifted to testing on physical Android devices, allowing smoother debugging and UI validation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0" name="Google Shape;630;p66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03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1" name="Google Shape;631;p66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Designed lightweight thread-based models that cached locally while syncing intelligently with user actions and profile context. 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2" name="Google Shape;632;p66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04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3" name="Google Shape;633;p66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We manually configured Kotlin Multiplatform plugins and dependencies, ensuring macOS and Android Studio ran stable builds with Compose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4" name="Google Shape;634;p66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SQLite HELPER WITH MIGRATION LOGIC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5" name="Google Shape;635;p66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CUSTOM DATA </a:t>
            </a:r>
            <a:r>
              <a:rPr lang="en">
                <a:solidFill>
                  <a:srgbClr val="07294D"/>
                </a:solidFill>
              </a:rPr>
              <a:t>MODEL</a:t>
            </a:r>
            <a:r>
              <a:rPr lang="en">
                <a:solidFill>
                  <a:srgbClr val="07294D"/>
                </a:solidFill>
              </a:rPr>
              <a:t> FOR CHAT THREADS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6" name="Google Shape;636;p66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02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7" name="Google Shape;637;p66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SWITCHED TO PHYSICAL DEVICE TESTING	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8" name="Google Shape;638;p66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01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39" name="Google Shape;639;p66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MANUAL GRADLE &amp; PLUGIN SETUP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40" name="Google Shape;640;p66"/>
          <p:cNvSpPr txBox="1"/>
          <p:nvPr>
            <p:ph idx="17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THE SOLUTION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41" name="Google Shape;641;p66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How We Built It</a:t>
            </a:r>
            <a:endParaRPr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6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294D"/>
                </a:solidFill>
              </a:rPr>
              <a:t>FindMyRide</a:t>
            </a:r>
            <a:endParaRPr sz="1200">
              <a:solidFill>
                <a:srgbClr val="07294D"/>
              </a:solidFill>
            </a:endParaRPr>
          </a:p>
        </p:txBody>
      </p:sp>
      <p:sp>
        <p:nvSpPr>
          <p:cNvPr id="648" name="Google Shape;648;p67"/>
          <p:cNvSpPr txBox="1"/>
          <p:nvPr>
            <p:ph type="title"/>
          </p:nvPr>
        </p:nvSpPr>
        <p:spPr>
          <a:xfrm>
            <a:off x="1359600" y="60280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294D"/>
                </a:solidFill>
              </a:rPr>
              <a:t>Data Sources &amp; How The Data Was Created</a:t>
            </a:r>
            <a:endParaRPr b="1">
              <a:solidFill>
                <a:srgbClr val="07294D"/>
              </a:solidFill>
            </a:endParaRPr>
          </a:p>
        </p:txBody>
      </p:sp>
      <p:sp>
        <p:nvSpPr>
          <p:cNvPr id="649" name="Google Shape;649;p67"/>
          <p:cNvSpPr txBox="1"/>
          <p:nvPr>
            <p:ph type="title"/>
          </p:nvPr>
        </p:nvSpPr>
        <p:spPr>
          <a:xfrm>
            <a:off x="321300" y="1524300"/>
            <a:ext cx="5666700" cy="22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lang="en" sz="1900">
                <a:solidFill>
                  <a:srgbClr val="07294D"/>
                </a:solidFill>
              </a:rPr>
              <a:t>Manually inserted fake Drexel users</a:t>
            </a:r>
            <a:endParaRPr sz="1900">
              <a:solidFill>
                <a:srgbClr val="07294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7294D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lang="en" sz="1900">
                <a:solidFill>
                  <a:srgbClr val="07294D"/>
                </a:solidFill>
              </a:rPr>
              <a:t>Used SQL scripts to seed vehicles + rides</a:t>
            </a:r>
            <a:endParaRPr sz="1900">
              <a:solidFill>
                <a:srgbClr val="07294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7294D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lang="en" sz="1900">
                <a:solidFill>
                  <a:srgbClr val="07294D"/>
                </a:solidFill>
              </a:rPr>
              <a:t>Validated inserts in CLI/DB Browser</a:t>
            </a:r>
            <a:endParaRPr sz="1900">
              <a:solidFill>
                <a:srgbClr val="07294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7294D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900"/>
              <a:buChar char="●"/>
            </a:pPr>
            <a:r>
              <a:rPr lang="en" sz="1900">
                <a:solidFill>
                  <a:srgbClr val="07294D"/>
                </a:solidFill>
              </a:rPr>
              <a:t>Used CRUD inside the app to create some entries</a:t>
            </a:r>
            <a:endParaRPr sz="1900"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8"/>
          <p:cNvSpPr/>
          <p:nvPr/>
        </p:nvSpPr>
        <p:spPr>
          <a:xfrm>
            <a:off x="2286118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5" name="Google Shape;655;p68"/>
          <p:cNvSpPr/>
          <p:nvPr/>
        </p:nvSpPr>
        <p:spPr>
          <a:xfrm>
            <a:off x="4565474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6" name="Google Shape;656;p68"/>
          <p:cNvSpPr/>
          <p:nvPr/>
        </p:nvSpPr>
        <p:spPr>
          <a:xfrm>
            <a:off x="50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7" name="Google Shape;657;p68"/>
          <p:cNvSpPr/>
          <p:nvPr/>
        </p:nvSpPr>
        <p:spPr>
          <a:xfrm>
            <a:off x="6849550" y="2314800"/>
            <a:ext cx="2294400" cy="2236500"/>
          </a:xfrm>
          <a:prstGeom prst="rect">
            <a:avLst/>
          </a:prstGeom>
          <a:solidFill>
            <a:srgbClr val="FFC600"/>
          </a:solidFill>
          <a:ln cap="flat" cmpd="sng" w="9525">
            <a:solidFill>
              <a:srgbClr val="072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8" name="Google Shape;658;p68"/>
          <p:cNvSpPr txBox="1"/>
          <p:nvPr>
            <p:ph idx="5" type="body"/>
          </p:nvPr>
        </p:nvSpPr>
        <p:spPr>
          <a:xfrm>
            <a:off x="4884600" y="3575875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Connecting the app to a local SQLite DB and making schema updates without breaking existing flows took time, especially managing migration safely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59" name="Google Shape;659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07294D"/>
                </a:solidFill>
              </a:rPr>
              <a:t>‹#›</a:t>
            </a:fld>
            <a:endParaRPr>
              <a:solidFill>
                <a:srgbClr val="07294D"/>
              </a:solidFill>
            </a:endParaRPr>
          </a:p>
        </p:txBody>
      </p:sp>
      <p:sp>
        <p:nvSpPr>
          <p:cNvPr id="660" name="Google Shape;660;p6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FindMyRide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1" name="Google Shape;661;p68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The Android Emulator often failed to render live previews due to resource constraints and M2 chip compatibility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2" name="Google Shape;662;p68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03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3" name="Google Shape;663;p68"/>
          <p:cNvSpPr txBox="1"/>
          <p:nvPr>
            <p:ph idx="2" type="body"/>
          </p:nvPr>
        </p:nvSpPr>
        <p:spPr>
          <a:xfrm>
            <a:off x="7162150" y="3575875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Structuring message threads cleanly while keeping them stored and synced locally required additional </a:t>
            </a:r>
            <a:r>
              <a:rPr lang="en">
                <a:solidFill>
                  <a:srgbClr val="07294D"/>
                </a:solidFill>
              </a:rPr>
              <a:t>abstraction</a:t>
            </a:r>
            <a:r>
              <a:rPr lang="en">
                <a:solidFill>
                  <a:srgbClr val="07294D"/>
                </a:solidFill>
              </a:rPr>
              <a:t> nd custom view modeling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4" name="Google Shape;664;p68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04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5" name="Google Shape;665;p68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07294D"/>
                </a:solidFill>
              </a:rPr>
              <a:t>Configuring Android Studio on mac with Kotlin Multiplatform support required extra plugins and manual dependency fixes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6" name="Google Shape;666;p68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SQLite INTEGRATION &amp; SCHEMA UPDATES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7" name="Google Shape;667;p68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THREADED MESSAGING ARCHITECTURE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8" name="Google Shape;668;p68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02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69" name="Google Shape;669;p68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EMULATOR &amp; LIVE PREVIEW ISSUES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70" name="Google Shape;670;p68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01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71" name="Google Shape;671;p68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SETTING UP KOTLIN MULTIPLATFORM ON macOS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72" name="Google Shape;672;p68"/>
          <p:cNvSpPr txBox="1"/>
          <p:nvPr>
            <p:ph idx="17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THE CHALLENGES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73" name="Google Shape;673;p68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We Faced</a:t>
            </a:r>
            <a:endParaRPr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600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69"/>
          <p:cNvSpPr txBox="1"/>
          <p:nvPr>
            <p:ph type="title"/>
          </p:nvPr>
        </p:nvSpPr>
        <p:spPr>
          <a:xfrm>
            <a:off x="625950" y="1134450"/>
            <a:ext cx="3407700" cy="29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7294D"/>
                </a:solidFill>
              </a:rPr>
              <a:t>Live Demo </a:t>
            </a:r>
            <a:endParaRPr sz="4900">
              <a:solidFill>
                <a:srgbClr val="07294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rgbClr val="07294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7294D"/>
                </a:solidFill>
              </a:rPr>
              <a:t>Crud</a:t>
            </a:r>
            <a:endParaRPr sz="4900">
              <a:solidFill>
                <a:srgbClr val="07294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7294D"/>
                </a:solidFill>
              </a:rPr>
              <a:t>Overview</a:t>
            </a:r>
            <a:endParaRPr sz="4900">
              <a:solidFill>
                <a:srgbClr val="07294D"/>
              </a:solidFill>
            </a:endParaRPr>
          </a:p>
        </p:txBody>
      </p:sp>
      <p:sp>
        <p:nvSpPr>
          <p:cNvPr id="680" name="Google Shape;680;p69"/>
          <p:cNvSpPr/>
          <p:nvPr/>
        </p:nvSpPr>
        <p:spPr>
          <a:xfrm>
            <a:off x="5135700" y="0"/>
            <a:ext cx="4008300" cy="517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1" name="Google Shape;681;p69"/>
          <p:cNvSpPr txBox="1"/>
          <p:nvPr>
            <p:ph idx="4294967295" type="body"/>
          </p:nvPr>
        </p:nvSpPr>
        <p:spPr>
          <a:xfrm>
            <a:off x="5593475" y="824700"/>
            <a:ext cx="3262200" cy="3527100"/>
          </a:xfrm>
          <a:prstGeom prst="rect">
            <a:avLst/>
          </a:prstGeom>
        </p:spPr>
        <p:txBody>
          <a:bodyPr anchorCtr="0" anchor="t" bIns="112125" lIns="112125" spcFirstLastPara="1" rIns="112125" wrap="square" tIns="112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CRUD Demo </a:t>
            </a:r>
            <a:endParaRPr b="1" sz="1600">
              <a:solidFill>
                <a:srgbClr val="072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(Profile → Vehicles page)</a:t>
            </a:r>
            <a:endParaRPr b="1" sz="1600">
              <a:solidFill>
                <a:srgbClr val="072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294D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Create:</a:t>
            </a:r>
            <a: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 Add new vehicle</a:t>
            </a:r>
            <a:b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72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Read:</a:t>
            </a:r>
            <a: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 Load existing profile + vehicle list</a:t>
            </a:r>
            <a:b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72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Update:</a:t>
            </a:r>
            <a: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 Edit vehicle details</a:t>
            </a:r>
            <a:b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72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294D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Delete:</a:t>
            </a:r>
            <a:r>
              <a:rPr lang="en" sz="1600">
                <a:solidFill>
                  <a:srgbClr val="07294D"/>
                </a:solidFill>
                <a:latin typeface="Arial"/>
                <a:ea typeface="Arial"/>
                <a:cs typeface="Arial"/>
                <a:sym typeface="Arial"/>
              </a:rPr>
              <a:t> Remove a vehicle</a:t>
            </a:r>
            <a:endParaRPr sz="1726"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"/>
          <p:cNvSpPr txBox="1"/>
          <p:nvPr>
            <p:ph type="title"/>
          </p:nvPr>
        </p:nvSpPr>
        <p:spPr>
          <a:xfrm>
            <a:off x="361975" y="962100"/>
            <a:ext cx="4373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294D"/>
                </a:solidFill>
              </a:rPr>
              <a:t>Lesson Learned</a:t>
            </a:r>
            <a:endParaRPr>
              <a:solidFill>
                <a:srgbClr val="07294D"/>
              </a:solidFill>
            </a:endParaRPr>
          </a:p>
        </p:txBody>
      </p:sp>
      <p:sp>
        <p:nvSpPr>
          <p:cNvPr id="687" name="Google Shape;687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07294D"/>
                </a:solidFill>
              </a:rPr>
              <a:t>‹#›</a:t>
            </a:fld>
            <a:endParaRPr>
              <a:solidFill>
                <a:srgbClr val="07294D"/>
              </a:solidFill>
            </a:endParaRPr>
          </a:p>
        </p:txBody>
      </p:sp>
      <p:sp>
        <p:nvSpPr>
          <p:cNvPr id="688" name="Google Shape;688;p7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FindMyRide</a:t>
            </a:r>
            <a:endParaRPr sz="1200"/>
          </a:p>
        </p:txBody>
      </p:sp>
      <p:sp>
        <p:nvSpPr>
          <p:cNvPr id="689" name="Google Shape;689;p70"/>
          <p:cNvSpPr/>
          <p:nvPr/>
        </p:nvSpPr>
        <p:spPr>
          <a:xfrm>
            <a:off x="6196325" y="1801500"/>
            <a:ext cx="2955000" cy="3342000"/>
          </a:xfrm>
          <a:prstGeom prst="roundRect">
            <a:avLst>
              <a:gd fmla="val 0" name="adj"/>
            </a:avLst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294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0" name="Google Shape;690;p70"/>
          <p:cNvSpPr/>
          <p:nvPr/>
        </p:nvSpPr>
        <p:spPr>
          <a:xfrm>
            <a:off x="3098162" y="1801500"/>
            <a:ext cx="2955000" cy="3342000"/>
          </a:xfrm>
          <a:prstGeom prst="roundRect">
            <a:avLst>
              <a:gd fmla="val 0" name="adj"/>
            </a:avLst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1" name="Google Shape;691;p70"/>
          <p:cNvSpPr/>
          <p:nvPr/>
        </p:nvSpPr>
        <p:spPr>
          <a:xfrm>
            <a:off x="0" y="1801500"/>
            <a:ext cx="2955000" cy="3342000"/>
          </a:xfrm>
          <a:prstGeom prst="roundRect">
            <a:avLst>
              <a:gd fmla="val 0" name="adj"/>
            </a:avLst>
          </a:prstGeom>
          <a:solidFill>
            <a:srgbClr val="07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2" name="Google Shape;692;p70"/>
          <p:cNvSpPr txBox="1"/>
          <p:nvPr>
            <p:ph idx="20" type="subTitle"/>
          </p:nvPr>
        </p:nvSpPr>
        <p:spPr>
          <a:xfrm>
            <a:off x="651300" y="3028509"/>
            <a:ext cx="1587900" cy="2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Samii Shabuse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93" name="Google Shape;693;p70"/>
          <p:cNvSpPr txBox="1"/>
          <p:nvPr>
            <p:ph idx="4294967295" type="body"/>
          </p:nvPr>
        </p:nvSpPr>
        <p:spPr>
          <a:xfrm>
            <a:off x="304975" y="3542475"/>
            <a:ext cx="2522100" cy="13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Lesson: </a:t>
            </a:r>
            <a:r>
              <a:rPr lang="en">
                <a:solidFill>
                  <a:schemeClr val="dk1"/>
                </a:solidFill>
              </a:rPr>
              <a:t>I learned how to code with Kotlin Multiplatform a framework I never used, and </a:t>
            </a:r>
            <a:r>
              <a:rPr lang="en">
                <a:solidFill>
                  <a:schemeClr val="dk1"/>
                </a:solidFill>
              </a:rPr>
              <a:t>learned how to integrate a database into it.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4" name="Google Shape;694;p70"/>
          <p:cNvSpPr txBox="1"/>
          <p:nvPr>
            <p:ph idx="2" type="subTitle"/>
          </p:nvPr>
        </p:nvSpPr>
        <p:spPr>
          <a:xfrm>
            <a:off x="6912150" y="3028509"/>
            <a:ext cx="1587900" cy="2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Mustafa Bookwala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5" name="Google Shape;695;p70"/>
          <p:cNvSpPr txBox="1"/>
          <p:nvPr>
            <p:ph idx="17" type="subTitle"/>
          </p:nvPr>
        </p:nvSpPr>
        <p:spPr>
          <a:xfrm>
            <a:off x="3878325" y="3028509"/>
            <a:ext cx="1587900" cy="2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Kennan Lu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6" name="Google Shape;696;p70" title="1698986245038.jpe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6375" y="1923334"/>
            <a:ext cx="991800" cy="991800"/>
          </a:xfrm>
          <a:prstGeom prst="rect">
            <a:avLst/>
          </a:prstGeom>
        </p:spPr>
      </p:pic>
      <p:pic>
        <p:nvPicPr>
          <p:cNvPr id="697" name="Google Shape;697;p70" title="1696800676186.jpeg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7913" y="1923334"/>
            <a:ext cx="991800" cy="991800"/>
          </a:xfrm>
          <a:prstGeom prst="rect">
            <a:avLst/>
          </a:prstGeom>
        </p:spPr>
      </p:pic>
      <p:pic>
        <p:nvPicPr>
          <p:cNvPr id="698" name="Google Shape;698;p70" title="1685315366058 (1).jpe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350" y="1923334"/>
            <a:ext cx="991800" cy="991800"/>
          </a:xfrm>
          <a:prstGeom prst="rect">
            <a:avLst/>
          </a:prstGeom>
        </p:spPr>
      </p:pic>
      <p:sp>
        <p:nvSpPr>
          <p:cNvPr id="699" name="Google Shape;699;p70"/>
          <p:cNvSpPr txBox="1"/>
          <p:nvPr>
            <p:ph idx="4294967295" type="body"/>
          </p:nvPr>
        </p:nvSpPr>
        <p:spPr>
          <a:xfrm>
            <a:off x="3314613" y="3542475"/>
            <a:ext cx="2522100" cy="13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Lesson: </a:t>
            </a:r>
            <a:r>
              <a:rPr lang="en">
                <a:solidFill>
                  <a:schemeClr val="dk1"/>
                </a:solidFill>
              </a:rPr>
              <a:t>I learned how to </a:t>
            </a:r>
            <a:r>
              <a:rPr lang="en">
                <a:solidFill>
                  <a:schemeClr val="dk1"/>
                </a:solidFill>
              </a:rPr>
              <a:t>create a locally hosted SQLite database, including how to define its structure and schema along with populating it with mock data.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0" name="Google Shape;700;p70"/>
          <p:cNvSpPr txBox="1"/>
          <p:nvPr>
            <p:ph idx="4294967295" type="body"/>
          </p:nvPr>
        </p:nvSpPr>
        <p:spPr>
          <a:xfrm>
            <a:off x="6445038" y="3542475"/>
            <a:ext cx="2522100" cy="13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Lesson: </a:t>
            </a:r>
            <a:r>
              <a:rPr lang="en">
                <a:solidFill>
                  <a:schemeClr val="dk1"/>
                </a:solidFill>
              </a:rPr>
              <a:t>I learned how to develop an iOS application without knowing Swift. Being able to navigate around the complex permissions of Mac and code in iOS was </a:t>
            </a:r>
            <a:r>
              <a:rPr lang="en">
                <a:solidFill>
                  <a:schemeClr val="dk1"/>
                </a:solidFill>
              </a:rPr>
              <a:t>definitely</a:t>
            </a:r>
            <a:r>
              <a:rPr lang="en">
                <a:solidFill>
                  <a:schemeClr val="dk1"/>
                </a:solidFill>
              </a:rPr>
              <a:t> rewarding.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600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1"/>
          <p:cNvSpPr/>
          <p:nvPr/>
        </p:nvSpPr>
        <p:spPr>
          <a:xfrm>
            <a:off x="-265550" y="0"/>
            <a:ext cx="697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6" name="Google Shape;706;p71"/>
          <p:cNvSpPr txBox="1"/>
          <p:nvPr>
            <p:ph type="title"/>
          </p:nvPr>
        </p:nvSpPr>
        <p:spPr>
          <a:xfrm>
            <a:off x="1140100" y="1116850"/>
            <a:ext cx="4163100" cy="282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07294D"/>
                </a:solidFill>
              </a:rPr>
              <a:t>Thank you</a:t>
            </a:r>
            <a:endParaRPr sz="9600">
              <a:solidFill>
                <a:srgbClr val="07294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